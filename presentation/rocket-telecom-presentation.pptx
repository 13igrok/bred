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750"/>
            </a:lvl1pPr>
            <a:lvl2pPr>
              <a:defRPr sz="1550"/>
            </a:lvl2pPr>
            <a:lvl3pPr>
              <a:defRPr sz="13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750"/>
            </a:lvl1pPr>
            <a:lvl2pPr>
              <a:defRPr sz="1550"/>
            </a:lvl2pPr>
            <a:lvl3pPr>
              <a:defRPr sz="130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55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1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550"/>
            </a:lvl1pPr>
            <a:lvl2pPr>
              <a:defRPr sz="1300"/>
            </a:lvl2pPr>
            <a:lvl3pPr>
              <a:defRPr sz="11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55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1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550"/>
            </a:lvl1pPr>
            <a:lvl2pPr>
              <a:defRPr sz="1300"/>
            </a:lvl2pPr>
            <a:lvl3pPr>
              <a:defRPr sz="11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750"/>
            </a:lvl1pPr>
            <a:lvl2pPr>
              <a:defRPr sz="1750"/>
            </a:lvl2pPr>
            <a:lvl3pPr>
              <a:defRPr sz="155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750"/>
            </a:lvl1pPr>
            <a:lvl2pPr marL="342900" indent="0">
              <a:buNone/>
              <a:defRPr sz="1750"/>
            </a:lvl2pPr>
            <a:lvl3pPr marL="685800" indent="0">
              <a:buNone/>
              <a:defRPr sz="1550"/>
            </a:lvl3pPr>
            <a:lvl4pPr marL="1028700" indent="0">
              <a:buNone/>
              <a:defRPr sz="1300"/>
            </a:lvl4pPr>
            <a:lvl5pPr marL="1371600" indent="0">
              <a:buNone/>
              <a:defRPr sz="1300"/>
            </a:lvl5pPr>
            <a:lvl6pPr marL="1714500" indent="0">
              <a:buNone/>
              <a:defRPr sz="1300"/>
            </a:lvl6pPr>
            <a:lvl7pPr marL="2057400" indent="0">
              <a:buNone/>
              <a:defRPr sz="1300"/>
            </a:lvl7pPr>
            <a:lvl8pPr marL="2400300" indent="0">
              <a:buNone/>
              <a:defRPr sz="1300"/>
            </a:lvl8pPr>
            <a:lvl9pPr marL="274320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5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12000"/>
        </a:spcBef>
        <a:buFont typeface="Arial"/>
        <a:buChar char="•"/>
        <a:defRPr kern="1200" sz="17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12000"/>
        </a:spcBef>
        <a:buFont typeface="Arial"/>
        <a:buChar char="–"/>
        <a:defRPr kern="1200" sz="17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12000"/>
        </a:spcBef>
        <a:buFont typeface="Arial"/>
        <a:buChar char="•"/>
        <a:defRPr kern="1200" sz="15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12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12000"/>
        </a:spcBef>
        <a:buFont typeface="Arial"/>
        <a:buChar char="»"/>
        <a:defRPr kern="1200" sz="13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12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12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12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12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Рокет Телеком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Сводная презентация по инфраструктуре</a:t>
            </a:r>
          </a:p>
          <a:p>
            <a:pPr lvl="0" indent="0" marL="0">
              <a:buNone/>
            </a:pPr>
            <a:r>
              <a:rPr/>
              <a:t>Октябрь 2026 · собрано из каталогов </a:t>
            </a:r>
            <a:r>
              <a:rPr>
                <a:latin typeface="Courier"/>
              </a:rPr>
              <a:t>access-users-old</a:t>
            </a:r>
            <a:r>
              <a:rPr/>
              <a:t>, </a:t>
            </a:r>
            <a:r>
              <a:rPr>
                <a:latin typeface="Courier"/>
              </a:rPr>
              <a:t>audit</a:t>
            </a:r>
            <a:r>
              <a:rPr/>
              <a:t>, </a:t>
            </a:r>
            <a:r>
              <a:rPr>
                <a:latin typeface="Courier"/>
              </a:rPr>
              <a:t>reteiltelecom_ansible</a:t>
            </a:r>
            <a:r>
              <a:rPr/>
              <a:t>, </a:t>
            </a:r>
            <a:r>
              <a:rPr>
                <a:latin typeface="Courier"/>
              </a:rPr>
              <a:t>UG_Telecom</a:t>
            </a:r>
            <a:r>
              <a:rPr/>
              <a:t>, </a:t>
            </a:r>
            <a:r>
              <a:rPr>
                <a:latin typeface="Courier"/>
              </a:rPr>
              <a:t>veeam-audit</a:t>
            </a:r>
          </a:p>
          <a:p>
            <a:pPr lvl="0" indent="0" marL="0">
              <a:buNone/>
            </a:pPr>
            <a:r>
              <a:rPr/>
              <a:t>Для служебного пользования · учётные данные не приводятся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изучено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access-users-old</a:t>
            </a:r>
            <a:r>
              <a:rPr/>
              <a:t> — Ansible: доступы, логирование, ~208 хостов, WireGuard-клиенты</a:t>
            </a:r>
          </a:p>
          <a:p>
            <a:pPr lvl="0"/>
            <a:r>
              <a:rPr>
                <a:latin typeface="Courier"/>
              </a:rPr>
              <a:t>audit</a:t>
            </a:r>
            <a:r>
              <a:rPr/>
              <a:t> — пул адресов 189 IP, reverse-DNS, схема k3s, разбор задачи 1943 (почта)</a:t>
            </a:r>
          </a:p>
          <a:p>
            <a:pPr lvl="0"/>
            <a:r>
              <a:rPr>
                <a:latin typeface="Courier"/>
              </a:rPr>
              <a:t>reteiltelecom_ansible</a:t>
            </a:r>
            <a:r>
              <a:rPr/>
              <a:t> — рабочий инвентарь, роли и плейбуки, документация</a:t>
            </a:r>
          </a:p>
          <a:p>
            <a:pPr lvl="0"/>
            <a:r>
              <a:rPr>
                <a:latin typeface="Courier"/>
              </a:rPr>
              <a:t>UG_Telecom</a:t>
            </a:r>
            <a:r>
              <a:rPr/>
              <a:t> — 79 отчётов аудита по 77 хостам, риски, схемы, Wiki-выгрузки</a:t>
            </a:r>
          </a:p>
          <a:p>
            <a:pPr lvl="0"/>
            <a:r>
              <a:rPr>
                <a:latin typeface="Courier"/>
              </a:rPr>
              <a:t>veeam-audit</a:t>
            </a:r>
            <a:r>
              <a:rPr/>
              <a:t> — две консоли Veeam: задания, простои, хранилища, план</a:t>
            </a:r>
          </a:p>
          <a:p>
            <a:pPr lvl="0"/>
            <a:r>
              <a:rPr>
                <a:latin typeface="Courier"/>
              </a:rPr>
              <a:t>UG_Telecom/templates</a:t>
            </a:r>
            <a:r>
              <a:rPr/>
              <a:t> — реестр 106 объектов, схема сети из Wiki, карта зависимостей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Резюме в цифрах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Операторских доменов / 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Linux-серверов в Ansible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Проаудировано хостов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 (79 отчётов)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Находок аудита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212 (10 критических хостов)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Хостов на EOL-ОС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 в адресном пуле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 (PTR только у 39)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Почтовых ящиков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Объектов в реестре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Единых точек отказа (SPOF)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Консолей Veeam / заданий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/ 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Операторы, домены и 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Ядро/ТСПУ — Краснодар, Комсомольская 40 · офис — Российская 341/1 (192.168.156.0/24)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Серверы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MGMT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Флэш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AS48120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flash-telecom.ru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192.168.110.0/24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10.140.0.0/24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Омиплат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AS48433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omiplat.ru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192.168.160.0/23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10.120.0.0/24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Рокет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AS208142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172.16.100.0/24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10.130.x, 10.25.1.0/24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РТЦ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AS43149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rocket-telecom.ru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192.168.160.0/23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10.58.0.0/24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ЮТК / Омикрон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AS210135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omicron.online, 360pro.online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192.168.160.0/23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10.23.64.0/23, 10.230.0.0/24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Внутренняя адресация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Подсеть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192.168.160.0/23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Основной серверный сегмент (DMZ), шлюз .160.1, NetBox id 1007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Прокси, K3s, почта/DNS, VPN, голосовые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192.168.110.0/24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Площадка Flash (AS48120)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172.16.100.0/24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Площадка Rocket (AS208142)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192.168.155.0/24 + 192.168.162.0/24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OAM / ядро / BRAS / Nexus — VLAN 666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192.168.158.0/24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WireGuard-клиенты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192.168.181.0/24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Прокси площадки REGRU (.20–.25)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192.168.156.0/24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Офис, 192.168.155.249/250/252 — VM-шаблоны (DHCP)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MGMT-сети и VLAN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Подсеть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 / 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10.23.64.0/23 (VLAN 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UTK MGMT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10.110.0–2.0/24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ЮТК: станицы, Миллерово, Бейсуг, Ростов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10.120.0.0/24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Омиплат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10.130.0–3.0/24, 10.25.1.0/24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Рокет (MPLS_Rocket CCR1036)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10.140.0–1.0/24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Флэш — пересекается с ЮТК (проблема)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10.230.0.0/24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Степной, Новоджерелиевская, Родниковская, Молодёжный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10.58.x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РТЦ (шлюз 10.58.0.8)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VLAN 666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OAM: ядро, BRAS, Nexus, OAM-свитч .230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Публичное адресирование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Hairpin NAT отсутствует → /etc/hosts или split-DNS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Диапазон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Роль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185.221.44.0/26, GW 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Периметр CCR2004 185.221.44.2 — весь вход, NAT 1:1 ≈40 правил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185.221.44.9 / 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relay1 / relay2 — MX (SPF 360pro.online)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185.221.44.13 / 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ns1 / ns2.omicron.online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Внешняя нога nginx 192.168.161.6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185.221.44.15 / .14 / .109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n8n / ONLYOFFICE / speedtest (без nginx)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185.221.44.26/.29/.38 · 91.194.149.4 · 185.147.38.4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Белые IP: omiplat / rtc / omicron / flash / rocket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194.67.117.0/24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2-й вход ЛК/API биллингов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79.174.86.171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REGRU — node5.k3s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DNS и почта: контур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Split-horizon: снаружи PowerDNS </a:t>
            </a:r>
            <a:r>
              <a:rPr>
                <a:latin typeface="Courier"/>
              </a:rPr>
              <a:t>ns1/ns2</a:t>
            </a:r>
            <a:r>
              <a:rPr/>
              <a:t> (.161.18/.19), внутри AD DNS (DC1/DC2, зона </a:t>
            </a:r>
            <a:r>
              <a:rPr>
                <a:latin typeface="Courier"/>
              </a:rPr>
              <a:t>.loc</a:t>
            </a:r>
            <a:r>
              <a:rPr/>
              <a:t>)</a:t>
            </a:r>
          </a:p>
          <a:p>
            <a:pPr lvl="0"/>
            <a:r>
              <a:rPr/>
              <a:t>dc1 </a:t>
            </a:r>
            <a:r>
              <a:rPr>
                <a:latin typeface="Courier"/>
              </a:rPr>
              <a:t>192.168.160.60</a:t>
            </a:r>
            <a:r>
              <a:rPr/>
              <a:t>, dc2 </a:t>
            </a:r>
            <a:r>
              <a:rPr>
                <a:latin typeface="Courier"/>
              </a:rPr>
              <a:t>192.168.160.69</a:t>
            </a:r>
            <a:r>
              <a:rPr/>
              <a:t> — все FSMO на dc1</a:t>
            </a:r>
          </a:p>
          <a:p>
            <a:pPr lvl="0"/>
            <a:r>
              <a:rPr/>
              <a:t>Почта 360pro.online: MX 10 relay1 / 15 relay2, SPF ip4:.9 + ip4:.17, DMARC p=reject, DKIM mail</a:t>
            </a:r>
          </a:p>
          <a:p>
            <a:pPr lvl="0"/>
            <a:r>
              <a:rPr/>
              <a:t>Обратный DNS: 189 адресов пула → </a:t>
            </a:r>
            <a:r>
              <a:rPr b="1"/>
              <a:t>PTR только у 39</a:t>
            </a:r>
            <a:r>
              <a:rPr/>
              <a:t>, без PTR — 150</a:t>
            </a:r>
          </a:p>
          <a:p>
            <a:pPr lvl="0"/>
            <a:r>
              <a:rPr/>
              <a:t>Пробел: из 192.168.110.0/24 внешние резолверы недоступны → </a:t>
            </a:r>
            <a:r>
              <a:rPr b="1"/>
              <a:t>авария Flash 31.08.2026</a:t>
            </a:r>
          </a:p>
          <a:p>
            <a:pPr lvl="0"/>
            <a:r>
              <a:rPr/>
              <a:t>Не описано в Wiki: DNS для абонентов (DHCP/PPPoE/RADIUS), владельцы зон omiplat.ru / rocketcom.ru / flash-telecom.ru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Топология: ядро сети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Аплинки: РТК · МТС · ТТК · Beeline · SEA-IX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Устройство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Роль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MikroTik CCR2004 «VPLS_Core»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185.221.44.2:1221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Шлюз периметра, NAT 1:1, VPN, GRE к RegRu, СОРМ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Nexus C9396PX / C3064PQ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192.168.155.9 / 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Ядро свитчинга (SW_CORE)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MikroTik CCR1036 VPLS_CORE_2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192.168.155.40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MPLS-PW/VPLS, OSPF+LDP, P2P 155.40/155.41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BRAS ASR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192.168.155.4/.14/.34/.222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PPPoE/IPoE, DHCP, RADIUS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Juniper MX480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VPLS 777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Станицы, MPLS-PW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MikroTik MX80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192.168.110.11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Ядро Flash — загрузка &gt;80%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Периметр и публикация сервисов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Центральный nginx </a:t>
            </a:r>
            <a:r>
              <a:rPr>
                <a:latin typeface="Courier"/>
              </a:rPr>
              <a:t>192.168.161.6</a:t>
            </a:r>
            <a:r>
              <a:rPr/>
              <a:t> = </a:t>
            </a:r>
            <a:r>
              <a:rPr>
                <a:latin typeface="Courier"/>
              </a:rPr>
              <a:t>185.221.44.20</a:t>
            </a:r>
            <a:r>
              <a:rPr/>
              <a:t>: Let’s Encrypt, GeoIP только RU, </a:t>
            </a:r>
            <a:r>
              <a:rPr b="1"/>
              <a:t>33 vhost</a:t>
            </a:r>
          </a:p>
          <a:p>
            <a:pPr lvl="0"/>
            <a:r>
              <a:rPr/>
              <a:t>Остальное — прямой NAT 1:1 на CCR2004</a:t>
            </a:r>
          </a:p>
          <a:p>
            <a:pPr lvl="0"/>
            <a:r>
              <a:rPr/>
              <a:t>ЛК/API биллингов: 2–3 слоя nginx — ядро → nginx-&lt;оператор&gt; </a:t>
            </a:r>
            <a:r>
              <a:rPr>
                <a:latin typeface="Courier"/>
              </a:rPr>
              <a:t>192.168.181.20–.25</a:t>
            </a:r>
            <a:r>
              <a:rPr/>
              <a:t> (REGRU) → фронт </a:t>
            </a:r>
            <a:r>
              <a:rPr>
                <a:latin typeface="Courier"/>
              </a:rPr>
              <a:t>.161.173/.175/.176</a:t>
            </a:r>
          </a:p>
          <a:p>
            <a:pPr lvl="0"/>
            <a:r>
              <a:rPr/>
              <a:t>По две A-записи на домены: свой вход + 194.67.117.0/24</a:t>
            </a:r>
          </a:p>
          <a:p>
            <a:pPr lvl="0"/>
            <a:r>
              <a:rPr/>
              <a:t>Только из 192.168.0.0/16 и офиса 185.147.38.8: bg-test, git, grafana, netbox, registry, erp-test, fop2, olt, pass, plan</a:t>
            </a:r>
          </a:p>
          <a:p>
            <a:pPr lvl="0"/>
            <a:r>
              <a:rPr/>
              <a:t>Исходящий прокси </a:t>
            </a:r>
            <a:r>
              <a:rPr>
                <a:latin typeface="Courier"/>
              </a:rPr>
              <a:t>socks.loc = 192.168.161.12</a:t>
            </a:r>
            <a:r>
              <a:rPr/>
              <a:t> (SOCKS5 :1080, HTTP :3128) через Hysteria2 — ERP и Zabbix ходят в Telegram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Матрица публикации ЛК/API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Flash и Rocket не переключены — нужен прокси на их площадках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Бренд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Прокс 161.x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Белый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bg-core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161.175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rocket-telecom.ru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+ 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omiplat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161.173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omiplat.ru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+ 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omicron/utc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161.176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185.221.44.38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160.101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omicron.online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+ 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161.172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91.194.149.4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flash-telecom.ru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⛔ asymmetric routing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161.174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185.147.38.4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172.16.100.24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rocketcom.ru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⛔ asymmetric routing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VPN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OpenVPN</a:t>
            </a:r>
            <a:r>
              <a:rPr/>
              <a:t> </a:t>
            </a:r>
            <a:r>
              <a:rPr>
                <a:latin typeface="Courier"/>
              </a:rPr>
              <a:t>192.168.161.26</a:t>
            </a:r>
            <a:r>
              <a:rPr/>
              <a:t> UDP 1194 → маршруты 10/8, 100.64/10, 172.16/12, 192.168.160/23, .110, .155, .156, .61, .158 — через него инженер попадает в MGMT 10.x</a:t>
            </a:r>
          </a:p>
          <a:p>
            <a:pPr lvl="0"/>
            <a:r>
              <a:rPr b="1"/>
              <a:t>WireGuard</a:t>
            </a:r>
            <a:r>
              <a:rPr/>
              <a:t> </a:t>
            </a:r>
            <a:r>
              <a:rPr>
                <a:latin typeface="Courier"/>
              </a:rPr>
              <a:t>192.168.160.2:25100</a:t>
            </a:r>
            <a:r>
              <a:rPr/>
              <a:t>, endpoint </a:t>
            </a:r>
            <a:r>
              <a:rPr>
                <a:latin typeface="Courier"/>
              </a:rPr>
              <a:t>185.221.44.2:24000</a:t>
            </a:r>
            <a:r>
              <a:rPr/>
              <a:t> — CentOS 8.3 (EOL), вне Ansible</a:t>
            </a:r>
          </a:p>
          <a:p>
            <a:pPr lvl="0"/>
            <a:r>
              <a:rPr b="1"/>
              <a:t>Site-to-site:</a:t>
            </a:r>
            <a:r>
              <a:rPr/>
              <a:t> IPSec + GRE к REG.RU, резерв через Flash</a:t>
            </a:r>
          </a:p>
          <a:p>
            <a:pPr lvl="0"/>
            <a:r>
              <a:rPr b="1"/>
              <a:t>msVPN</a:t>
            </a:r>
            <a:r>
              <a:rPr/>
              <a:t> </a:t>
            </a:r>
            <a:r>
              <a:rPr>
                <a:latin typeface="Courier"/>
              </a:rPr>
              <a:t>192.168.160.118</a:t>
            </a:r>
            <a:r>
              <a:rPr/>
              <a:t> — PPTP включён ⚠</a:t>
            </a:r>
          </a:p>
          <a:p>
            <a:pPr lvl="0"/>
            <a:r>
              <a:rPr/>
              <a:t>Проблемы: в REG.RU анонсируется 192.168.160.0/24, а не /23 → </a:t>
            </a:r>
            <a:r>
              <a:rPr>
                <a:latin typeface="Courier"/>
              </a:rPr>
              <a:t>.161.x</a:t>
            </a:r>
            <a:r>
              <a:rPr/>
              <a:t> из облака недоступны; </a:t>
            </a:r>
            <a:r>
              <a:rPr>
                <a:latin typeface="Courier"/>
              </a:rPr>
              <a:t>wg-quick down/up</a:t>
            </a:r>
            <a:r>
              <a:rPr/>
              <a:t> рвёт все сессии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WireGuard-клиенты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callcenter</a:t>
            </a:r>
            <a:r>
              <a:rPr/>
              <a:t> — 28 человек, </a:t>
            </a:r>
            <a:r>
              <a:rPr>
                <a:latin typeface="Courier"/>
              </a:rPr>
              <a:t>192.168.158.30–58</a:t>
            </a:r>
            <a:r>
              <a:rPr/>
              <a:t>, ipset callcenter_users</a:t>
            </a:r>
          </a:p>
          <a:p>
            <a:pPr lvl="1"/>
            <a:r>
              <a:rPr/>
              <a:t>доступ: 80/443, SIP 5060/5061, RTP 10000–20000, сети 192.168.0.0/16 + 185.221.44.0/24</a:t>
            </a:r>
          </a:p>
          <a:p>
            <a:pPr lvl="1"/>
            <a:r>
              <a:rPr/>
              <a:t>активен только Ватсуев (.58); 23 пира отключены 03.03.2026</a:t>
            </a:r>
          </a:p>
          <a:p>
            <a:pPr lvl="0"/>
            <a:r>
              <a:rPr b="1"/>
              <a:t>contractors</a:t>
            </a:r>
            <a:r>
              <a:rPr/>
              <a:t> — Новиков ×4 (.60–.63, только bg-core.*:8080), Онипко (.5), Бакуменко (.66 → только 161.47), Харсека (.65 — слит 18.05.2026)</a:t>
            </a:r>
          </a:p>
          <a:p>
            <a:pPr lvl="0"/>
            <a:r>
              <a:rPr b="1"/>
              <a:t>staff</a:t>
            </a:r>
            <a:r>
              <a:rPr/>
              <a:t> — Войтов </a:t>
            </a:r>
            <a:r>
              <a:rPr>
                <a:latin typeface="Courier"/>
              </a:rPr>
              <a:t>.67</a:t>
            </a:r>
            <a:r>
              <a:rPr/>
              <a:t>, полный доступ (конфиг на флешке)</a:t>
            </a:r>
          </a:p>
          <a:p>
            <a:pPr lvl="0"/>
            <a:r>
              <a:rPr/>
              <a:t>WG не управляется Ansible — всё вручную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Биллинговая платформа BGBilling 9.2501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Пять копий одной цепочки: BRAS/NAS → RADIUS → ActiveMQ → ядро → ProxySQL → PXC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bg-core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bg-radius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ProxySQL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Call-центр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192.168.110.7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110.29, 110.30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omiplat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.160.217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utc/omicron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.161.13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110.30 (совм.)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172.16.100.24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172.16.100.54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Цепочка биллинга и PXC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Лежит ядро — авторизованные продолжают работать. Лежит БД или RADIUS — новые авторизации не проходят.</a:t>
            </a:r>
          </a:p>
          <a:p>
            <a:pPr lvl="0"/>
            <a:r>
              <a:rPr/>
              <a:t>Абонент → </a:t>
            </a:r>
            <a:r>
              <a:rPr b="1"/>
              <a:t>BRAS/NAS</a:t>
            </a:r>
            <a:r>
              <a:rPr/>
              <a:t> (Cisco ASR · ISG · СКАТ) → RADIUS 1812/1813 + DHCP 67/10067</a:t>
            </a:r>
          </a:p>
          <a:p>
            <a:pPr lvl="0"/>
            <a:r>
              <a:rPr/>
              <a:t>→ ActiveMQ </a:t>
            </a:r>
            <a:r>
              <a:rPr b="1"/>
              <a:t>:61616</a:t>
            </a:r>
            <a:r>
              <a:rPr/>
              <a:t> → ядро BGBilling 9.2501 → ProxySQL :6033 → </a:t>
            </a:r>
            <a:r>
              <a:rPr b="1"/>
              <a:t>Percona XtraDB 5.7.44</a:t>
            </a:r>
          </a:p>
          <a:p>
            <a:pPr lvl="0"/>
            <a:r>
              <a:rPr/>
              <a:t>Обратно: CoA :3799 → BRAS; FTP каждые 20–30 мин → </a:t>
            </a:r>
            <a:r>
              <a:rPr b="1"/>
              <a:t>ПУ СОРМ-3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Оператор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Ноды PXC (160.0/23)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BRAS / NAS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.128–.130, лог .131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СКАТ 172.16.100.5 + ASR .100.10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ЮТК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.194–.196, лог .197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ASR 192.168.155.14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Омиплат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.198/.199/.126, лог .127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ASR 192.168.155.3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Флэш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.189/.193/.191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Cisco ISG 192.168.110.6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РТЦ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.132–.134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СКАТ 10.58.0.7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Чем болеет биллинговый контур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ActiveMQ OpenWire 61616</a:t>
            </a:r>
            <a:r>
              <a:rPr/>
              <a:t> на всех 5 ядрах — CVE-2023-46604 (CVSS 10.0), Java от root → RCE-root</a:t>
            </a:r>
          </a:p>
          <a:p>
            <a:pPr lvl="0"/>
            <a:r>
              <a:rPr b="1"/>
              <a:t>BGInet 1951/tcp без аутентификации</a:t>
            </a:r>
            <a:r>
              <a:rPr/>
              <a:t> на всех 5 bg-radius, открыт наружу</a:t>
            </a:r>
          </a:p>
          <a:p>
            <a:pPr lvl="0"/>
            <a:r>
              <a:rPr b="1"/>
              <a:t>ProxySQL admin 6032/6070/6080</a:t>
            </a:r>
            <a:r>
              <a:rPr/>
              <a:t> открыты в сети</a:t>
            </a:r>
          </a:p>
          <a:p>
            <a:pPr lvl="0"/>
            <a:r>
              <a:rPr/>
              <a:t>ОС ядер/RADIUS/ProxySQL — </a:t>
            </a:r>
            <a:r>
              <a:rPr b="1"/>
              <a:t>Debian 11 (EOL)</a:t>
            </a:r>
          </a:p>
          <a:p>
            <a:pPr lvl="0"/>
            <a:r>
              <a:rPr/>
              <a:t>У Flash ядро/RADIUS/ProxySQL в 110.x, кластер БД в 160.x — обрыв площадки бьёт по биллингу и телефонии</a:t>
            </a:r>
          </a:p>
          <a:p>
            <a:pPr lvl="0"/>
            <a:r>
              <a:rPr/>
              <a:t>Сбер-эквайринг </a:t>
            </a:r>
            <a:r>
              <a:rPr>
                <a:latin typeface="Courier"/>
              </a:rPr>
              <a:t>/sber</a:t>
            </a:r>
            <a:r>
              <a:rPr/>
              <a:t> в BGBilling без фильтра по IP</a:t>
            </a:r>
          </a:p>
          <a:p>
            <a:pPr lvl="0"/>
            <a:r>
              <a:rPr/>
              <a:t>214 world-writable файлов платёжных JSP + dump.sql + TFTP 0777 на 110.7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Kubernetes k3s-prod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Longhorn: </a:t>
            </a:r>
            <a:r>
              <a:rPr>
                <a:latin typeface="Courier"/>
              </a:rPr>
              <a:t>mailserver-data</a:t>
            </a:r>
            <a:r>
              <a:rPr/>
              <a:t> 800Gi — </a:t>
            </a:r>
            <a:r>
              <a:rPr b="1"/>
              <a:t>занят 90%</a:t>
            </a:r>
            <a:r>
              <a:rPr/>
              <a:t>; gitlab-agent 0/2 не работает</a:t>
            </a:r>
          </a:p>
          <a:p>
            <a:pPr lvl="0" indent="0" marL="0">
              <a:buNone/>
            </a:pPr>
            <a:r>
              <a:rPr/>
              <a:t>kube-vip </a:t>
            </a:r>
            <a:r>
              <a:rPr>
                <a:latin typeface="Courier"/>
              </a:rPr>
              <a:t>192.168.161.101</a:t>
            </a:r>
            <a:r>
              <a:rPr/>
              <a:t>, API 6443 · MetalLB не установлен → LoadBalancer в pending → внешний доступ только NodePort · порты: 25→30025 · 465→30465 · 587→30587 · 993→30553 (мимо traefik), vault 30200, outfile 30884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Роль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k3s-node1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control-plane + etcd, VIP, поды почты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k3s-node2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control-plane + etcd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k3s-node3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control-plane + etcd + sogo-db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k3s-node4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control-plane + etcd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k3s-node5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10.10.200.120 / 79.174.86.171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NotReady, Площадка 2, вне кворума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Почта: задача 1943 (поиск в Outlook)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Outlook ходит по IMAP напрямую в dovecot 2.3.19.1, веб (SOGo) ищет по своей БД → «в вебе работает»</a:t>
            </a:r>
          </a:p>
          <a:p>
            <a:pPr lvl="0"/>
            <a:r>
              <a:rPr/>
              <a:t>Причина: </a:t>
            </a:r>
            <a:r>
              <a:rPr>
                <a:latin typeface="Courier"/>
              </a:rPr>
              <a:t>fts_xapian = partial=3 full=20</a:t>
            </a:r>
            <a:r>
              <a:rPr/>
              <a:t> — тело индексируется только для писем 3–20 дней</a:t>
            </a:r>
          </a:p>
          <a:p>
            <a:pPr lvl="0"/>
            <a:r>
              <a:rPr/>
              <a:t>У a.zagainov: 2168 писем, </a:t>
            </a:r>
            <a:r>
              <a:rPr b="1"/>
              <a:t>2119 (97,7%) старше 20 дней</a:t>
            </a:r>
            <a:r>
              <a:rPr/>
              <a:t> → не ищутся по телу</a:t>
            </a:r>
          </a:p>
          <a:p>
            <a:pPr lvl="0"/>
            <a:r>
              <a:rPr/>
              <a:t>Блокер: </a:t>
            </a:r>
            <a:r>
              <a:rPr>
                <a:latin typeface="Courier"/>
              </a:rPr>
              <a:t>/var/mail</a:t>
            </a:r>
            <a:r>
              <a:rPr/>
              <a:t> 704G/788G (</a:t>
            </a:r>
            <a:r>
              <a:rPr b="1"/>
              <a:t>90%</a:t>
            </a:r>
            <a:r>
              <a:rPr/>
              <a:t>), на индекс нужно ~250–280 ГБ</a:t>
            </a:r>
          </a:p>
          <a:p>
            <a:pPr lvl="0"/>
            <a:r>
              <a:rPr/>
              <a:t>Правка — строка 549 </a:t>
            </a:r>
            <a:r>
              <a:rPr>
                <a:latin typeface="Courier"/>
              </a:rPr>
              <a:t>user-patches.sh</a:t>
            </a:r>
            <a:r>
              <a:rPr/>
              <a:t> на PVC (конфиги вне git, 8 копий .bak)</a:t>
            </a:r>
          </a:p>
          <a:p>
            <a:pPr lvl="0"/>
            <a:r>
              <a:rPr/>
              <a:t>Сопутствующее: TLS snakeoil, пароль AD plaintext, порты мимо traefik, 471 ящик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Почта: архитектура и SPOF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relay1 </a:t>
            </a:r>
            <a:r>
              <a:rPr>
                <a:latin typeface="Courier"/>
              </a:rPr>
              <a:t>.161.32</a:t>
            </a:r>
            <a:r>
              <a:rPr/>
              <a:t> / relay2 </a:t>
            </a:r>
            <a:r>
              <a:rPr>
                <a:latin typeface="Courier"/>
              </a:rPr>
              <a:t>.161.33</a:t>
            </a:r>
            <a:r>
              <a:rPr/>
              <a:t> → K3s mailserver :30025 (360pro) и </a:t>
            </a:r>
            <a:r>
              <a:rPr b="1"/>
              <a:t>Exchange ×5</a:t>
            </a:r>
            <a:r>
              <a:rPr/>
              <a:t> (</a:t>
            </a:r>
            <a:r>
              <a:rPr>
                <a:latin typeface="Courier"/>
              </a:rPr>
              <a:t>161.50</a:t>
            </a:r>
            <a:r>
              <a:rPr/>
              <a:t>, </a:t>
            </a:r>
            <a:r>
              <a:rPr>
                <a:latin typeface="Courier"/>
              </a:rPr>
              <a:t>161.92–95</a:t>
            </a:r>
            <a:r>
              <a:rPr/>
              <a:t>)</a:t>
            </a:r>
          </a:p>
          <a:p>
            <a:pPr lvl="0"/>
            <a:r>
              <a:rPr b="1"/>
              <a:t>dc2 в настройках почты не прописан</a:t>
            </a:r>
            <a:r>
              <a:rPr/>
              <a:t> — отказ dc1 = нет входа в почту 360pro</a:t>
            </a:r>
          </a:p>
          <a:p>
            <a:pPr lvl="0"/>
            <a:r>
              <a:rPr/>
              <a:t>В </a:t>
            </a:r>
            <a:r>
              <a:rPr>
                <a:latin typeface="Courier"/>
              </a:rPr>
              <a:t>mynetworks</a:t>
            </a:r>
            <a:r>
              <a:rPr/>
              <a:t> relay прописаны IP нод K3s — новая нода без правки не отправит почту</a:t>
            </a:r>
          </a:p>
          <a:p>
            <a:pPr lvl="0"/>
            <a:r>
              <a:rPr/>
              <a:t>FQDN Exchange в </a:t>
            </a:r>
            <a:r>
              <a:rPr>
                <a:latin typeface="Courier"/>
              </a:rPr>
              <a:t>/etc/hosts</a:t>
            </a:r>
            <a:r>
              <a:rPr/>
              <a:t> (hairpin NAT нет)</a:t>
            </a:r>
          </a:p>
          <a:p>
            <a:pPr lvl="0"/>
            <a:r>
              <a:rPr/>
              <a:t>Почтовый том ~800 Gi и </a:t>
            </a:r>
            <a:r>
              <a:rPr b="1"/>
              <a:t>БД PowerDNS — без бэкапа</a:t>
            </a:r>
          </a:p>
          <a:p>
            <a:pPr lvl="0"/>
            <a:r>
              <a:rPr/>
              <a:t>Ранее: запись звонков не бэкапится с 09.11.2025 (потеряны записи 09.11.2025–13.03.2026), CDR 6 серверов Asterisk без бэкапа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Доступы: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SSH: </a:t>
            </a:r>
            <a:r>
              <a:rPr>
                <a:latin typeface="Courier"/>
              </a:rPr>
              <a:t>PermitRootLogin no</a:t>
            </a:r>
            <a:r>
              <a:rPr/>
              <a:t>, </a:t>
            </a:r>
            <a:r>
              <a:rPr>
                <a:latin typeface="Courier"/>
              </a:rPr>
              <a:t>PasswordAuthentication no</a:t>
            </a:r>
            <a:r>
              <a:rPr/>
              <a:t>, порт </a:t>
            </a:r>
            <a:r>
              <a:rPr b="1"/>
              <a:t>1221</a:t>
            </a:r>
            <a:r>
              <a:rPr/>
              <a:t> (биллинг — 22)</a:t>
            </a:r>
          </a:p>
          <a:p>
            <a:pPr lvl="0"/>
            <a:r>
              <a:rPr/>
              <a:t>OS-группы: </a:t>
            </a:r>
            <a:r>
              <a:rPr>
                <a:latin typeface="Courier"/>
              </a:rPr>
              <a:t>omicron</a:t>
            </a:r>
            <a:r>
              <a:rPr/>
              <a:t> (GID 1000), </a:t>
            </a:r>
            <a:r>
              <a:rPr b="1">
                <a:latin typeface="Courier"/>
              </a:rPr>
              <a:t>omicron-sudo</a:t>
            </a:r>
            <a:r>
              <a:rPr b="1"/>
              <a:t> = NOPASSWD: ALL</a:t>
            </a:r>
            <a:r>
              <a:rPr/>
              <a:t>, </a:t>
            </a:r>
            <a:r>
              <a:rPr>
                <a:latin typeface="Courier"/>
              </a:rPr>
              <a:t>omicron-limited</a:t>
            </a:r>
            <a:r>
              <a:rPr/>
              <a:t>, </a:t>
            </a:r>
            <a:r>
              <a:rPr>
                <a:latin typeface="Courier"/>
              </a:rPr>
              <a:t>omicron-readonly</a:t>
            </a:r>
          </a:p>
          <a:p>
            <a:pPr lvl="0"/>
            <a:r>
              <a:rPr/>
              <a:t>Очистка: нет в </a:t>
            </a:r>
            <a:r>
              <a:rPr>
                <a:latin typeface="Courier"/>
              </a:rPr>
              <a:t>users.yml</a:t>
            </a:r>
            <a:r>
              <a:rPr/>
              <a:t> → блокировка (nologin); есть в </a:t>
            </a:r>
            <a:r>
              <a:rPr>
                <a:latin typeface="Courier"/>
              </a:rPr>
              <a:t>users.yml</a:t>
            </a:r>
            <a:r>
              <a:rPr/>
              <a:t>, но хост не назначен → </a:t>
            </a:r>
            <a:r>
              <a:rPr b="1"/>
              <a:t>userdel</a:t>
            </a:r>
          </a:p>
          <a:p>
            <a:pPr lvl="0"/>
            <a:r>
              <a:rPr/>
              <a:t>18 публичных SSH-ключей, 14 активных пользователей</a:t>
            </a:r>
          </a:p>
          <a:p>
            <a:pPr lvl="0"/>
            <a:r>
              <a:rPr/>
              <a:t>⚠ Ключи есть у </a:t>
            </a:r>
            <a:r>
              <a:rPr>
                <a:latin typeface="Courier"/>
              </a:rPr>
              <a:t>ousepov</a:t>
            </a:r>
            <a:r>
              <a:rPr/>
              <a:t>, </a:t>
            </a:r>
            <a:r>
              <a:rPr>
                <a:latin typeface="Courier"/>
              </a:rPr>
              <a:t>gmasich-test1</a:t>
            </a:r>
            <a:r>
              <a:rPr/>
              <a:t> — записей в users.yml нет; у </a:t>
            </a:r>
            <a:r>
              <a:rPr>
                <a:latin typeface="Courier"/>
              </a:rPr>
              <a:t>ishuleshko</a:t>
            </a:r>
            <a:r>
              <a:rPr/>
              <a:t> рабочего ключа нет</a:t>
            </a:r>
          </a:p>
          <a:p>
            <a:pPr lvl="0"/>
            <a:r>
              <a:rPr/>
              <a:t>⚠ На живом jira (161.42) висят отозванные </a:t>
            </a:r>
            <a:r>
              <a:rPr>
                <a:latin typeface="Courier"/>
              </a:rPr>
              <a:t>iverbitsky</a:t>
            </a:r>
            <a:r>
              <a:rPr/>
              <a:t> и </a:t>
            </a:r>
            <a:r>
              <a:rPr>
                <a:latin typeface="Courier"/>
              </a:rPr>
              <a:t>inebalsin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Пользователи и внешние подрядчики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omicron-sudo</a:t>
            </a:r>
            <a:r>
              <a:rPr/>
              <a:t>: до 16 членов, </a:t>
            </a:r>
            <a:r>
              <a:rPr b="1"/>
              <a:t>9–11 nologin-учёток</a:t>
            </a:r>
            <a:r>
              <a:rPr/>
              <a:t> бывших сотрудников, кросс-доменный состав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Юзер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Примечание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gmasich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все хосты, главный админ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service_automation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сервисный, все хосты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rtaktarov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billing_admins, nginx_proxy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individual-хостов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pkuzmin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billing + proxy admins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avasilev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billing + nginx proxy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 хостов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valeriy (bitel@bgbilling.ru)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test-sudo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внешний вендор BGBilling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sgaregin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(+docker)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внешний подрядчик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atarasov (cc@cc.ru)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подрядчик колл-центра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Ansible: что автоматизировано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14 ролей:</a:t>
            </a:r>
            <a:r>
              <a:rPr/>
              <a:t> access, rsyslog, auditd, bash_history, timesync, docker_logging, logger_server, fail2ban, zabbix_agent, zabbix_ssh_monitoring, app_logs_filebeat, nginx-default-redirect, pxc, prometheus</a:t>
            </a:r>
          </a:p>
          <a:p>
            <a:pPr lvl="0"/>
            <a:r>
              <a:rPr b="1"/>
              <a:t>Плейбуки:</a:t>
            </a:r>
            <a:r>
              <a:rPr/>
              <a:t> access.yml (IAM), enhanced-logging.yml, fail2ban.yml, java-apps-logging.yml, zabbix-ssh-monitoring.yml, configure-logger-server.yml, exec_script.yml</a:t>
            </a:r>
          </a:p>
          <a:p>
            <a:pPr lvl="0"/>
            <a:r>
              <a:rPr/>
              <a:t>VM-шаблон </a:t>
            </a:r>
            <a:r>
              <a:rPr>
                <a:latin typeface="Courier"/>
              </a:rPr>
              <a:t>debian13Template</a:t>
            </a:r>
            <a:r>
              <a:rPr/>
              <a:t> 192.168.155.249 (DHCP-лиз, Debian 13.5)</a:t>
            </a:r>
          </a:p>
          <a:p>
            <a:pPr lvl="0"/>
            <a:r>
              <a:rPr/>
              <a:t>Секреты: Telegram/NetBox — из .env, Vault — подготовлен (закомментирован), маскирование паролей в логах Java</a:t>
            </a:r>
          </a:p>
          <a:p>
            <a:pPr lvl="0"/>
            <a:r>
              <a:rPr>
                <a:latin typeface="Courier"/>
              </a:rPr>
              <a:t>inventory/network_equipment</a:t>
            </a:r>
            <a:r>
              <a:rPr/>
              <a:t> </a:t>
            </a:r>
            <a:r>
              <a:rPr b="1"/>
              <a:t>пуст</a:t>
            </a:r>
            <a:r>
              <a:rPr/>
              <a:t> — сетевики не в Ansible; бэкапы конфигов — </a:t>
            </a:r>
            <a:r>
              <a:rPr>
                <a:latin typeface="Courier"/>
              </a:rPr>
              <a:t>ansible-backup-net</a:t>
            </a:r>
            <a:r>
              <a:rPr/>
              <a:t> .160.42 (раньше Oxidized на 213 устройства, отключён)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Сетевое оборудование: управление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Централизованной AAA нет</a:t>
            </a:r>
            <a:r>
              <a:rPr/>
              <a:t> — локальные учётки на устройствах (Wiki), при этом </a:t>
            </a:r>
            <a:r>
              <a:rPr>
                <a:latin typeface="Courier"/>
              </a:rPr>
              <a:t>tacacs .161.96</a:t>
            </a:r>
            <a:r>
              <a:rPr/>
              <a:t> существует</a:t>
            </a:r>
          </a:p>
          <a:p>
            <a:pPr lvl="0"/>
            <a:r>
              <a:rPr/>
              <a:t>Jump-хосты не описаны; доступ через OpenVPN</a:t>
            </a:r>
          </a:p>
          <a:p>
            <a:pPr lvl="0"/>
            <a:r>
              <a:rPr>
                <a:latin typeface="Courier"/>
              </a:rPr>
              <a:t>oms .160.68</a:t>
            </a:r>
            <a:r>
              <a:rPr/>
              <a:t> — Observium + </a:t>
            </a:r>
            <a:r>
              <a:rPr b="1"/>
              <a:t>RANCID (конфиги сетевых)</a:t>
            </a:r>
            <a:r>
              <a:rPr/>
              <a:t> + plain FTP наружу</a:t>
            </a:r>
          </a:p>
          <a:p>
            <a:pPr lvl="0"/>
            <a:r>
              <a:rPr>
                <a:latin typeface="Courier"/>
              </a:rPr>
              <a:t>samba .160.11</a:t>
            </a:r>
            <a:r>
              <a:rPr/>
              <a:t> — конфиги MikroTik + ключи, анон-энумерация шар</a:t>
            </a:r>
          </a:p>
          <a:p>
            <a:pPr lvl="0"/>
            <a:r>
              <a:rPr/>
              <a:t>Логи сетевиков отдельными pipeline: mikrotik, cdata, bdcom, juniper, gateray</a:t>
            </a:r>
          </a:p>
          <a:p>
            <a:pPr lvl="0"/>
            <a:r>
              <a:rPr/>
              <a:t>RouterOS 6.49 требует </a:t>
            </a:r>
            <a:r>
              <a:rPr>
                <a:latin typeface="Courier"/>
              </a:rPr>
              <a:t>-o PubkeyAcceptedAlgorithms=+ssh-rsa</a:t>
            </a:r>
          </a:p>
          <a:p>
            <a:pPr lvl="0"/>
            <a:r>
              <a:rPr/>
              <a:t>Пробел Wiki: перечень MGMT-VLAN, бэкап OLT/SNR/Huawei/Nexus, BGP-пиры, OSPF/MPLS/VPLS текстом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Централизованное логирование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200+ хостов → rsyslog UDP 515 → Filebeat → Kafka 4.0.0 (9 топиков) → Logstash 8.9.0 (8 pipelines) → OpenSearch 3.1.0</a:t>
            </a:r>
          </a:p>
          <a:p>
            <a:pPr lvl="0" indent="0" marL="0">
              <a:buNone/>
            </a:pPr>
            <a:r>
              <a:rPr/>
              <a:t>Сервер: </a:t>
            </a:r>
            <a:r>
              <a:rPr>
                <a:latin typeface="Courier"/>
              </a:rPr>
              <a:t>192.168.160.75</a:t>
            </a:r>
            <a:r>
              <a:rPr/>
              <a:t> (opensearch.360pro.online) · Расчёт: ~580 GB на 2 года · Дополнительно: auditd </a:t>
            </a:r>
            <a:r>
              <a:rPr>
                <a:latin typeface="Courier"/>
              </a:rPr>
              <a:t>-e 2</a:t>
            </a:r>
            <a:r>
              <a:rPr/>
              <a:t>, bash_history, chrony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Топик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Хранение (ISM)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audit-logs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730 дней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bash-history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1095 дней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docker-logs / linux-auth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365 дней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timesync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дней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mikrotik / cdata / bdcom / juniper / gateray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отдельные pipeline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java-app-logs (BGERP/BGBilling)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отдельные ISM, mask_password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Мониторинг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node_exporter 9100 / zabbix-agent 10050 почти везде без ограничения </a:t>
            </a:r>
            <a:r>
              <a:rPr>
                <a:latin typeface="Courier"/>
              </a:rPr>
              <a:t>Server=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Компонент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Состояние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Zabbix 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 веб + server наружу → RCE по парку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Prometheus + Alertmanager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 9090/9093 без auth, fail2ban выкл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Grafana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 ок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OMS (Observium/RANCID)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192.168.160.68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 ключи сетевых + plain FTP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192.168.161.48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эталон: nftables + unattended-upgrades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9. Резервное копирование: Veeam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Диски в риске: </a:t>
            </a:r>
            <a:r>
              <a:rPr b="1"/>
              <a:t>K: 0%</a:t>
            </a:r>
            <a:r>
              <a:rPr/>
              <a:t>, </a:t>
            </a:r>
            <a:r>
              <a:rPr b="1"/>
              <a:t>G: 10%</a:t>
            </a:r>
            <a:r>
              <a:rPr/>
              <a:t> (причина 33 падений), D: 17% свободно · Veeam2 </a:t>
            </a:r>
            <a:r>
              <a:rPr>
                <a:latin typeface="Courier"/>
              </a:rPr>
              <a:t>160.99</a:t>
            </a:r>
            <a:r>
              <a:rPr/>
              <a:t> на SV4-B · Veeam_Omicron </a:t>
            </a:r>
            <a:r>
              <a:rPr>
                <a:latin typeface="Courier"/>
              </a:rPr>
              <a:t>160.14</a:t>
            </a:r>
            <a:r>
              <a:rPr/>
              <a:t> на SV5-B · EnterprisePlus до 31.12.2035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Консоль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Серверов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Заданий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Запусков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Без копии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 (192.168.160.62)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 (12 норм / 5 проблемных)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771/0/0 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из 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omicron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(2 норм / 8 проблемных)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120/160/296 = </a:t>
                      </a:r>
                      <a:r>
                        <a:rPr b="1"/>
                        <a:t>21%</a:t>
                      </a:r>
                      <a:r>
                        <a:rPr/>
                        <a:t> 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 из 75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Veeam: что НЕ защищено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Exchange — 0 успешных копий из 100</a:t>
            </a:r>
            <a:r>
              <a:rPr/>
              <a:t> (sv3 Exchange, успех 0%)</a:t>
            </a:r>
          </a:p>
          <a:p>
            <a:pPr lvl="0"/>
            <a:r>
              <a:rPr b="1"/>
              <a:t>БД биллинга на node2 — 101 день без копии</a:t>
            </a:r>
            <a:r>
              <a:rPr/>
              <a:t> (задание DBnode2 не найдено)</a:t>
            </a:r>
          </a:p>
          <a:p>
            <a:pPr lvl="0"/>
            <a:r>
              <a:rPr b="1"/>
              <a:t>vault — 0 точек</a:t>
            </a:r>
            <a:r>
              <a:rPr/>
              <a:t>, gitlab — 1 точка (05.09.2026)</a:t>
            </a:r>
          </a:p>
          <a:p>
            <a:pPr lvl="0"/>
            <a:r>
              <a:rPr/>
              <a:t>k3s выключен (K: 100%), node1/node2 не копируются нигде, backup target Longhorn не настроен</a:t>
            </a:r>
          </a:p>
          <a:p>
            <a:pPr lvl="0"/>
            <a:r>
              <a:rPr b="1"/>
              <a:t>43 из 77 хостов не найдены</a:t>
            </a:r>
            <a:r>
              <a:rPr/>
              <a:t> — физические серверы не защищены (заданий Physical Machine нет)</a:t>
            </a:r>
          </a:p>
          <a:p>
            <a:pPr lvl="0"/>
            <a:r>
              <a:rPr/>
              <a:t>42 дубля между консолями — но </a:t>
            </a:r>
            <a:r>
              <a:rPr b="1"/>
              <a:t>обе консоли в одном ЦО</a:t>
            </a:r>
            <a:r>
              <a:rPr/>
              <a:t>, offsite отсутствует</a:t>
            </a:r>
          </a:p>
          <a:p>
            <a:pPr lvl="0"/>
            <a:r>
              <a:rPr b="1"/>
              <a:t>Ни одного restore-теста</a:t>
            </a:r>
            <a:r>
              <a:rPr/>
              <a:t> за всю историю</a:t>
            </a:r>
          </a:p>
          <a:p>
            <a:pPr lvl="0"/>
            <a:r>
              <a:rPr/>
              <a:t>Единственный offsite: </a:t>
            </a:r>
            <a:r>
              <a:rPr>
                <a:latin typeface="Courier"/>
              </a:rPr>
              <a:t>backonf .160.11</a:t>
            </a:r>
            <a:r>
              <a:rPr/>
              <a:t> → send_bkp_to_regru.sh (баг retention: find -mtime без -type f)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Единые точки отказа (SPOF)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Узел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Последствия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Периметр CCR2004 185.221.44.2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Весь NAT (~40 сервисов), VPN, GRE, СОРМ — нет внеша, почты, ЛК, удалёнки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HPE MSA sv4 / sv5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Обе Degraded</a:t>
                      </a:r>
                      <a:r>
                        <a:rPr/>
                        <a:t>: 136 из 170 ВМ, репликации нет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Каталог dc1 192.168.160.60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Все FSMO, единственный LDAPS, DNS для 110.x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Вход nginx 192.168.161.6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Один контейнер: ERP, SOGo, Vault, API GW, GitLab, Grafana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 VIP 192.168.161.101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Почта, Vault, API GW; node5 NotReady → запас по кворуму etcd = 1 нода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SPOF: продолжение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Интеграция-риск:</a:t>
            </a:r>
            <a:r>
              <a:rPr/>
              <a:t> BGERP шлёт запросы в Telegram синхронно внутри транзакции через SOCKS .161.12 — недоступность = lock-timeout у всех пользователей ERP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Узел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Последствия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BGERP 192.168.160.31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Одна ВМ с локальным MySQL, без HA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RADIUS / NAS каждого оператора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 одному экземпляру; рестарт = 5–10 мин Reject всем абонентам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vCenter 192.168.160.202 (node50)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vSphere 6.7 EOL — вся виртуализация из одной ВМ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Люди: n8n, бэкапы, MFA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n8n у одного сотрудника; bus-factor бэкапов = 1; MFA на одном RADIUS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Критические находки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Бэкапы БД отсутствуют</a:t>
            </a:r>
            <a:r>
              <a:rPr/>
              <a:t> — </a:t>
            </a:r>
            <a:r>
              <a:rPr>
                <a:latin typeface="Courier"/>
              </a:rPr>
              <a:t>/db-backups/*</a:t>
            </a:r>
            <a:r>
              <a:rPr/>
              <a:t> пуст на db-backup1/2 (.135/.136)</a:t>
            </a:r>
          </a:p>
          <a:p>
            <a:pPr lvl="0" indent="-342900" marL="342900">
              <a:buAutoNum type="arabicPeriod"/>
            </a:pPr>
            <a:r>
              <a:rPr b="1"/>
              <a:t>Анонимный Docker Registry</a:t>
            </a:r>
            <a:r>
              <a:rPr/>
              <a:t> :5000 на GitLab .161.7 (</a:t>
            </a:r>
            <a:r>
              <a:rPr>
                <a:latin typeface="Courier"/>
              </a:rPr>
              <a:t>/v2/_catalog</a:t>
            </a:r>
            <a:r>
              <a:rPr/>
              <a:t> без auth)</a:t>
            </a:r>
          </a:p>
          <a:p>
            <a:pPr lvl="0" indent="-342900" marL="342900">
              <a:buAutoNum type="arabicPeriod"/>
            </a:pPr>
            <a:r>
              <a:rPr b="1"/>
              <a:t>Открытый Squid 3128 + SOCKS 1080</a:t>
            </a:r>
            <a:r>
              <a:rPr/>
              <a:t> и все СУБД в сети — sv1 .161.12</a:t>
            </a:r>
          </a:p>
          <a:p>
            <a:pPr lvl="0" indent="-342900" marL="342900">
              <a:buAutoNum type="arabicPeriod"/>
            </a:pPr>
            <a:r>
              <a:rPr b="1"/>
              <a:t>Zabbix наружу</a:t>
            </a:r>
            <a:r>
              <a:rPr/>
              <a:t> .160.104 → RCE на всех хостах с агентом</a:t>
            </a:r>
          </a:p>
          <a:p>
            <a:pPr lvl="0" indent="-342900" marL="342900">
              <a:buAutoNum type="arabicPeriod"/>
            </a:pPr>
            <a:r>
              <a:rPr b="1"/>
              <a:t>Дампы БД ERP world-readable</a:t>
            </a:r>
            <a:r>
              <a:rPr/>
              <a:t> в /opt — .160.31</a:t>
            </a:r>
          </a:p>
          <a:p>
            <a:pPr lvl="0" indent="-342900" marL="342900">
              <a:buAutoNum type="arabicPeriod"/>
            </a:pPr>
            <a:r>
              <a:rPr b="1"/>
              <a:t>ActiveMQ CVE-2023-46604</a:t>
            </a:r>
            <a:r>
              <a:rPr/>
              <a:t> (CVSS 10.0) на всех 5 ядрах, Java от root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Высокий приоритет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7" type="arabicPeriod"/>
            </a:pPr>
            <a:r>
              <a:rPr>
                <a:latin typeface="Courier"/>
              </a:rPr>
              <a:t>omicron-sudo = NOPASSWD ALL</a:t>
            </a:r>
            <a:r>
              <a:rPr/>
              <a:t> — раздута, 9–11 nologin-учёток, кросс-домен</a:t>
            </a:r>
          </a:p>
          <a:p>
            <a:pPr lvl="0" indent="-342900" marL="342900">
              <a:buAutoNum startAt="7" type="arabicPeriod"/>
            </a:pPr>
            <a:r>
              <a:rPr/>
              <a:t>Внешние подрядчики с root: valeriy (BGBilling), sgaregin (+docker), avk, atarasov</a:t>
            </a:r>
          </a:p>
          <a:p>
            <a:pPr lvl="0" indent="-342900" marL="342900">
              <a:buAutoNum startAt="7" type="arabicPeriod"/>
            </a:pPr>
            <a:r>
              <a:rPr>
                <a:latin typeface="Courier"/>
              </a:rPr>
              <a:t>docker</a:t>
            </a:r>
            <a:r>
              <a:rPr/>
              <a:t> + </a:t>
            </a:r>
            <a:r>
              <a:rPr>
                <a:latin typeface="Courier"/>
              </a:rPr>
              <a:t>ansible</a:t>
            </a:r>
            <a:r>
              <a:rPr/>
              <a:t> в docker-группе, </a:t>
            </a:r>
            <a:r>
              <a:rPr b="1"/>
              <a:t>ufw не фильтрует docker-порты</a:t>
            </a:r>
            <a:r>
              <a:rPr/>
              <a:t> (~12 хостов)</a:t>
            </a:r>
          </a:p>
          <a:p>
            <a:pPr lvl="0" indent="-342900" marL="342900">
              <a:buAutoNum startAt="7" type="arabicPeriod"/>
            </a:pPr>
            <a:r>
              <a:rPr/>
              <a:t>Ключи ядра сети: oms (RANCID), samba (конфиги+ключи), tacacs + plain FTP</a:t>
            </a:r>
          </a:p>
          <a:p>
            <a:pPr lvl="0" indent="-342900" marL="342900">
              <a:buAutoNum startAt="7" type="arabicPeriod"/>
            </a:pPr>
            <a:r>
              <a:rPr/>
              <a:t>СУБД и админка в сети (ProxySQL 6032, MySQL 3306, Prometheus без auth)</a:t>
            </a:r>
          </a:p>
          <a:p>
            <a:pPr lvl="0" indent="-342900" marL="342900">
              <a:buAutoNum startAt="7" type="arabicPeriod"/>
            </a:pPr>
            <a:r>
              <a:rPr/>
              <a:t>Хостовый фаервол почти нигде не активен (эталон 161.48)</a:t>
            </a:r>
          </a:p>
          <a:p>
            <a:pPr lvl="0" indent="-342900" marL="342900">
              <a:buAutoNum startAt="7" type="arabicPeriod"/>
            </a:pPr>
            <a:r>
              <a:rPr b="1"/>
              <a:t>20 хостов на EOL-ОС</a:t>
            </a:r>
            <a:r>
              <a:rPr/>
              <a:t>: Debian 11, CentOS 7, vCenter 6.7</a:t>
            </a:r>
          </a:p>
          <a:p>
            <a:pPr lvl="0" indent="-342900" marL="342900">
              <a:buAutoNum startAt="7" type="arabicPeriod"/>
            </a:pPr>
            <a:r>
              <a:rPr/>
              <a:t>n8n: PostgreSQL :5432 на всех интерфейсах + SQL через MCP</a:t>
            </a:r>
          </a:p>
          <a:p>
            <a:pPr lvl="0" indent="-342900" marL="342900">
              <a:buAutoNum startAt="7" type="arabicPeriod"/>
            </a:pPr>
            <a:r>
              <a:rPr/>
              <a:t>msVPN — PPTP включён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Инциденты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⛔ </a:t>
            </a:r>
            <a:r>
              <a:rPr b="1"/>
              <a:t>Слетели все iptables/ipset на WG-сервере</a:t>
            </a:r>
            <a:r>
              <a:rPr/>
              <a:t> (ребут ~01.04.2026) — подрядчики и колл-центр </a:t>
            </a:r>
            <a:r>
              <a:rPr b="1"/>
              <a:t>~3,5 месяца без ограничений</a:t>
            </a:r>
            <a:r>
              <a:rPr/>
              <a:t>; восстановлено 15.07.2026</a:t>
            </a:r>
          </a:p>
          <a:p>
            <a:pPr lvl="0"/>
            <a:r>
              <a:rPr/>
              <a:t>🔴 </a:t>
            </a:r>
            <a:r>
              <a:rPr b="1"/>
              <a:t>Утечка конфига Харсеки</a:t>
            </a:r>
            <a:r>
              <a:rPr/>
              <a:t> (</a:t>
            </a:r>
            <a:r>
              <a:rPr>
                <a:latin typeface="Courier"/>
              </a:rPr>
              <a:t>e.kharseka.conf.leaked</a:t>
            </a:r>
            <a:r>
              <a:rPr/>
              <a:t>, 18.05.2026)</a:t>
            </a:r>
          </a:p>
          <a:p>
            <a:pPr lvl="0"/>
            <a:r>
              <a:rPr/>
              <a:t>⛔ </a:t>
            </a:r>
            <a:r>
              <a:rPr b="1"/>
              <a:t>Авария Flash 31.08.2026</a:t>
            </a:r>
            <a:r>
              <a:rPr/>
              <a:t> — нет внешних резолверов из 110.x, транк Манго, вход в биллинг 20–40 с</a:t>
            </a:r>
          </a:p>
          <a:p>
            <a:pPr lvl="0"/>
            <a:r>
              <a:rPr/>
              <a:t>⚠ Отозванные iverbitsky/inebalzin на живом jira; jira в инвентаре с мёртвым IP 160.17</a:t>
            </a:r>
          </a:p>
          <a:p>
            <a:pPr lvl="0"/>
            <a:r>
              <a:rPr/>
              <a:t>⚠ Потери до 10.58.0.0/24, зависающий SSH до 181.x — workaround: ProxyJump через .160.75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Пробелы и противоречия базы знаний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Противоречия:</a:t>
            </a:r>
            <a:r>
              <a:rPr/>
              <a:t> 110.0/24 «call-центры» vs вся площадка Flash · OLT ЮТК в 161.2–5/.84 vs 10.110.0.x · MSVPN: 4 разных адреса · бордеры MX480/MX80/MX204 не сведены · wiki-js «не опубликован», но отвечает снаружи · 160.34 = 1c_omiplat vs 1С:КА2 ЮТК · Микбилл 3.07/3.12 vs BGBilling · две «живые» версии Vault (1.9.2 и K3s)</a:t>
            </a:r>
          </a:p>
          <a:p>
            <a:pPr lvl="0" indent="0" marL="0">
              <a:buNone/>
            </a:pPr>
            <a:r>
              <a:rPr b="1"/>
              <a:t>Пробелы:</a:t>
            </a:r>
            <a:r>
              <a:rPr/>
              <a:t> BGP/OSPF/MPLS/VPLS текстом · jump-хосты и MGMT-VLAN · полный NAT-список · что в REG.RU · ProxySQL rocket/flash, лог-ноды PXC, СКАТ РТЦ · размещение ВМ по хостам</a:t>
            </a:r>
          </a:p>
          <a:p>
            <a:pPr lvl="0" indent="0" marL="0">
              <a:buNone/>
            </a:pPr>
            <a:r>
              <a:rPr b="1"/>
              <a:t>Риски Wiki:</a:t>
            </a:r>
            <a:r>
              <a:rPr/>
              <a:t> открытые учётные данные в Wiki и nginx · EOL vSphere/WG · бэкап записей звонков не работает с 09.11.2025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Реестр объектов (106 шт., 22.09.2026)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Поля: имя, IP, порт, группы Ansible, назначение, бренд, владелец, статус проверки</a:t>
            </a:r>
          </a:p>
          <a:p>
            <a:pPr lvl="0"/>
            <a:r>
              <a:rPr/>
              <a:t>Порты: 1221 (большинство), 22 (биллинг/БД), </a:t>
            </a:r>
            <a:r>
              <a:rPr b="1"/>
              <a:t>7183</a:t>
            </a:r>
            <a:r>
              <a:rPr/>
              <a:t> (backconf), </a:t>
            </a:r>
            <a:r>
              <a:rPr b="1"/>
              <a:t>25103</a:t>
            </a:r>
            <a:r>
              <a:rPr/>
              <a:t> (office), 25100 (wireguard)</a:t>
            </a:r>
          </a:p>
          <a:p>
            <a:pPr lvl="0"/>
            <a:r>
              <a:rPr b="1"/>
              <a:t>НЕ ПРОВЕРЕН — недоступен из WG:</a:t>
            </a:r>
            <a:r>
              <a:rPr/>
              <a:t> audit-vm, все db-*-node2, hs2, flusonic-ms/watcher, node5.k3s, весь слой REGRU (nginx-rtc/flash/rocket/omiplat/omicron), ns1/ns2, vault, debian12-template, ntop-netflow</a:t>
            </a:r>
          </a:p>
          <a:p>
            <a:pPr lvl="0"/>
            <a:r>
              <a:rPr/>
              <a:t>Ключ отклонён: callcentertest 161.36, jira 160.17</a:t>
            </a:r>
          </a:p>
          <a:p>
            <a:pPr lvl="0"/>
            <a:r>
              <a:rPr/>
              <a:t>Пустой ответ: netbox 161.5, office 160.6</a:t>
            </a:r>
          </a:p>
          <a:p>
            <a:pPr lvl="0"/>
            <a:r>
              <a:rPr/>
              <a:t>Нет в отчёте: callcenter.flash, proxysql omicron/rtc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План действий: срочно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</a:t>
            </a:r>
            <a:r>
              <a:rPr/>
              <a:t> Восстановить бэкапы БД (db-backup1/2 пусты) — сегодня</a:t>
            </a:r>
          </a:p>
          <a:p>
            <a:pPr lvl="0"/>
            <a:r>
              <a:rPr b="1"/>
              <a:t>B</a:t>
            </a:r>
            <a:r>
              <a:rPr/>
              <a:t> Закрыть анонимный Registry (161.7) и Squid/SOCKS (161.12) — сегодня</a:t>
            </a:r>
          </a:p>
          <a:p>
            <a:pPr lvl="0"/>
            <a:r>
              <a:rPr b="1"/>
              <a:t>C</a:t>
            </a:r>
            <a:r>
              <a:rPr/>
              <a:t> Освободить G: (2 ТБ) и K:, включить k3s-задание, починить DBnode2, вернуть vault и gitlab — сегодня–неделя</a:t>
            </a:r>
          </a:p>
          <a:p>
            <a:pPr lvl="0"/>
            <a:r>
              <a:rPr b="1"/>
              <a:t>D</a:t>
            </a:r>
            <a:r>
              <a:rPr/>
              <a:t> Ревизия </a:t>
            </a:r>
            <a:r>
              <a:rPr>
                <a:latin typeface="Courier"/>
              </a:rPr>
              <a:t>omicron-sudo</a:t>
            </a:r>
            <a:r>
              <a:rPr/>
              <a:t>: удалить nologin, вынести подрядчиков, убрать NOPASSWD — 1–3 дня</a:t>
            </a:r>
          </a:p>
          <a:p>
            <a:pPr lvl="0"/>
            <a:r>
              <a:rPr b="1"/>
              <a:t>E</a:t>
            </a:r>
            <a:r>
              <a:rPr/>
              <a:t> Обновить ActiveMQ на 5 ядрах, закрыть 61616 — неделя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План действий: неделя — месяц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</a:t>
            </a:r>
            <a:r>
              <a:rPr/>
              <a:t> СУБД/admin → localhost + DOCKER-USER iptables; ограничить K8s control-plane узлами</a:t>
            </a:r>
          </a:p>
          <a:p>
            <a:pPr lvl="0"/>
            <a:r>
              <a:rPr b="1"/>
              <a:t>G</a:t>
            </a:r>
            <a:r>
              <a:rPr/>
              <a:t> Защитить Zabbix/Prometheus (auth + proxy + фаервол), ограничить агенты по </a:t>
            </a:r>
            <a:r>
              <a:rPr>
                <a:latin typeface="Courier"/>
              </a:rPr>
              <a:t>Server=</a:t>
            </a:r>
          </a:p>
          <a:p>
            <a:pPr lvl="0"/>
            <a:r>
              <a:rPr b="1"/>
              <a:t>H</a:t>
            </a:r>
            <a:r>
              <a:rPr/>
              <a:t> Вынести </a:t>
            </a:r>
            <a:r>
              <a:rPr>
                <a:latin typeface="Courier"/>
              </a:rPr>
              <a:t>ansible</a:t>
            </a:r>
            <a:r>
              <a:rPr/>
              <a:t> из docker; offsite-реплика Veeam вне ЦО; иммутабельность</a:t>
            </a:r>
          </a:p>
          <a:p>
            <a:pPr lvl="0"/>
            <a:r>
              <a:rPr b="1"/>
              <a:t>I</a:t>
            </a:r>
            <a:r>
              <a:rPr/>
              <a:t> Хостовой фаервол (nftables по эталону 161.48) + unattended-upgrades по парку</a:t>
            </a:r>
          </a:p>
          <a:p>
            <a:pPr lvl="0"/>
            <a:r>
              <a:rPr b="1"/>
              <a:t>J</a:t>
            </a:r>
            <a:r>
              <a:rPr/>
              <a:t> Миграция Debian 11 / CentOS 7 / vCenter 6.7; закрыть BGInet 1951; Java не от root</a:t>
            </a:r>
          </a:p>
          <a:p>
            <a:pPr lvl="0"/>
            <a:r>
              <a:rPr b="1"/>
              <a:t>K</a:t>
            </a:r>
            <a:r>
              <a:rPr/>
              <a:t> Restore-тест Veeam, бэкап физики и vCenter; бэкап записей звонков и CDR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Карта сети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UG_Telecom/schemes/network-map.html</a:t>
            </a:r>
            <a:r>
              <a:rPr/>
              <a:t> — большая интерактивная карта:</a:t>
            </a:r>
          </a:p>
          <a:p>
            <a:pPr lvl="0"/>
            <a:r>
              <a:rPr/>
              <a:t>топология от аплинков до площадок и MGMT</a:t>
            </a:r>
          </a:p>
          <a:p>
            <a:pPr lvl="0"/>
            <a:r>
              <a:rPr/>
              <a:t>полный регистр подсетей, VLAN, публичных адресов</a:t>
            </a:r>
          </a:p>
          <a:p>
            <a:pPr lvl="0"/>
            <a:r>
              <a:rPr/>
              <a:t>матрица биллинга, NodePort, ASN</a:t>
            </a:r>
          </a:p>
          <a:p>
            <a:pPr lvl="0"/>
            <a:r>
              <a:rPr/>
              <a:t>SPOF и резервное копирование</a:t>
            </a:r>
          </a:p>
          <a:p>
            <a:pPr lvl="0" indent="0" marL="0">
              <a:buNone/>
            </a:pPr>
            <a:r>
              <a:rPr/>
              <a:t>Дополнительно: </a:t>
            </a:r>
            <a:r>
              <a:rPr>
                <a:latin typeface="Courier"/>
              </a:rPr>
              <a:t>schemes/</a:t>
            </a:r>
            <a:r>
              <a:rPr/>
              <a:t> (drawio, perimeter-dashboard), </a:t>
            </a:r>
            <a:r>
              <a:rPr>
                <a:latin typeface="Courier"/>
              </a:rPr>
              <a:t>raw/2406/network-scheme.html</a:t>
            </a:r>
            <a:r>
              <a:rPr/>
              <a:t>, </a:t>
            </a:r>
            <a:r>
              <a:rPr>
                <a:latin typeface="Courier"/>
              </a:rPr>
              <a:t>templates/Карта_зависимостей_360pro.html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Инфраструктура — </a:t>
            </a:r>
            <a:r>
              <a:rPr b="1"/>
              <a:t>5 операторских доменов</a:t>
            </a:r>
            <a:r>
              <a:rPr/>
              <a:t> на общей серверной базе 192.168.160.0/23</a:t>
            </a:r>
          </a:p>
          <a:p>
            <a:pPr lvl="0"/>
            <a:r>
              <a:rPr/>
              <a:t>Управление доступами, логирование и мониторинг </a:t>
            </a:r>
            <a:r>
              <a:rPr b="1"/>
              <a:t>централизованы</a:t>
            </a:r>
            <a:r>
              <a:rPr/>
              <a:t>, биллинг </a:t>
            </a:r>
            <a:r>
              <a:rPr b="1"/>
              <a:t>продублирован 5 раз</a:t>
            </a:r>
          </a:p>
          <a:p>
            <a:pPr lvl="0"/>
            <a:r>
              <a:rPr/>
              <a:t>Главные риски: </a:t>
            </a:r>
            <a:r>
              <a:rPr b="1"/>
              <a:t>отсутствие рабочих бэкапов</a:t>
            </a:r>
            <a:r>
              <a:rPr/>
              <a:t>, </a:t>
            </a:r>
            <a:r>
              <a:rPr b="1"/>
              <a:t>периметрные экспозиции</a:t>
            </a:r>
            <a:r>
              <a:rPr/>
              <a:t>, </a:t>
            </a:r>
            <a:r>
              <a:rPr b="1"/>
              <a:t>раздутый omicron-sudo</a:t>
            </a:r>
            <a:r>
              <a:rPr/>
              <a:t>, </a:t>
            </a:r>
            <a:r>
              <a:rPr b="1"/>
              <a:t>EOL-парк</a:t>
            </a:r>
            <a:r>
              <a:rPr/>
              <a:t>, </a:t>
            </a:r>
            <a:r>
              <a:rPr b="1"/>
              <a:t>9 единых точек отказа</a:t>
            </a:r>
          </a:p>
          <a:p>
            <a:pPr lvl="0"/>
            <a:r>
              <a:rPr/>
              <a:t>Сильная сторон — детально описанная Wiki и автоматизация Ansible; слабая — расхождения Wiki с реальностью и пробелы покрытия</a:t>
            </a:r>
          </a:p>
          <a:p>
            <a:pPr lvl="0" indent="0" marL="0">
              <a:buNone/>
            </a:pPr>
            <a:r>
              <a:rPr b="1"/>
              <a:t>Отчёт:</a:t>
            </a:r>
            <a:r>
              <a:rPr/>
              <a:t> </a:t>
            </a:r>
            <a:r>
              <a:rPr>
                <a:latin typeface="Courier"/>
              </a:rPr>
              <a:t>reports/rocket-telecom-full-report.md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2026-10-08T15:54:09Z</dcterms:created>
  <dcterms:modified xsi:type="dcterms:W3CDTF">2026-10-08T15:54:09Z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